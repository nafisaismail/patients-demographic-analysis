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5791" y="228600"/>
            <a:ext cx="53899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3050"/>
                </a:solidFill>
              </a:defRPr>
            </a:pPr>
            <a:r>
              <a:rPr dirty="0"/>
              <a:t>Health: Patient Demographic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268" y="1645920"/>
            <a:ext cx="1078992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>
                <a:solidFill>
                  <a:srgbClr val="5A646E"/>
                </a:solidFill>
              </a:defRPr>
            </a:pPr>
            <a:r>
              <a:rPr lang="en-US" dirty="0"/>
              <a:t>A Capstone project submitted to the SCA _ Power BI TDD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Prepared by Nafisa Ismail</a:t>
            </a:r>
          </a:p>
          <a:p>
            <a:pPr algn="ctr">
              <a:spcAft>
                <a:spcPts val="1200"/>
              </a:spcAft>
              <a:defRPr sz="2200">
                <a:solidFill>
                  <a:srgbClr val="5A646E"/>
                </a:solidFill>
              </a:defRPr>
            </a:pPr>
            <a:r>
              <a:rPr lang="en-US" dirty="0"/>
              <a:t>nafisaismail9@gmail.com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4CE3-DBF0-10EC-2875-7A224C04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1A9B9-C2CF-9ACD-6072-E4C35F8B3900}"/>
              </a:ext>
            </a:extLst>
          </p:cNvPr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50"/>
                </a:solidFill>
              </a:defRPr>
            </a:pPr>
            <a:r>
              <a:rPr dirty="0"/>
              <a:t>Health: Patient Demographic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FA2E6-68AF-3735-4413-8266DE27EF9B}"/>
              </a:ext>
            </a:extLst>
          </p:cNvPr>
          <p:cNvSpPr txBox="1"/>
          <p:nvPr/>
        </p:nvSpPr>
        <p:spPr>
          <a:xfrm>
            <a:off x="475488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Service utilisation patterns across age, sex, region and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5BA83-28F4-CDC3-949A-0B91F76C1015}"/>
              </a:ext>
            </a:extLst>
          </p:cNvPr>
          <p:cNvSpPr txBox="1"/>
          <p:nvPr/>
        </p:nvSpPr>
        <p:spPr>
          <a:xfrm>
            <a:off x="746268" y="1645920"/>
            <a:ext cx="10789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A646E"/>
                </a:solidFill>
              </a:defRPr>
            </a:pPr>
            <a:r>
              <a:rPr lang="en-US" dirty="0"/>
              <a:t>O</a:t>
            </a:r>
            <a:r>
              <a:rPr dirty="0"/>
              <a:t>bjective 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en-US" dirty="0"/>
              <a:t>To </a:t>
            </a:r>
            <a:r>
              <a:rPr dirty="0"/>
              <a:t>identify where demand is concentrated and where planning attention is needed.</a:t>
            </a:r>
          </a:p>
          <a:p>
            <a:pPr>
              <a:spcAft>
                <a:spcPts val="1200"/>
              </a:spcAft>
              <a:defRPr sz="2200">
                <a:solidFill>
                  <a:srgbClr val="5A646E"/>
                </a:solidFill>
              </a:defRPr>
            </a:pPr>
            <a:r>
              <a:rPr dirty="0"/>
              <a:t>Dataset - 25,000 visit records, 4,965 unique patients, 10 services, 36 months of activity.</a:t>
            </a:r>
          </a:p>
          <a:p>
            <a:pPr>
              <a:spcAft>
                <a:spcPts val="1200"/>
              </a:spcAft>
              <a:defRPr sz="2200">
                <a:solidFill>
                  <a:srgbClr val="5A646E"/>
                </a:solidFill>
              </a:defRPr>
            </a:pPr>
            <a:r>
              <a:rPr dirty="0"/>
              <a:t>Scope - evidence-based dashboard design for management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67577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50"/>
                </a:solidFill>
              </a:defRPr>
            </a:pPr>
            <a:r>
              <a:t>Executive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The overall utilisation profile is broad, with a few planning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Older adults are the most frequent users - age 45-64 contributes 17.4% of all visits, followed by 65+ at 17.1%.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Utili</a:t>
            </a:r>
            <a:r>
              <a:rPr lang="en-US" dirty="0"/>
              <a:t>z</a:t>
            </a:r>
            <a:r>
              <a:rPr dirty="0"/>
              <a:t>ation is nearly balanced by sex - females account for 22,616 visits versus 21,812 for males, with similar visits per patient.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 err="1"/>
              <a:t>NorthWest</a:t>
            </a:r>
            <a:r>
              <a:rPr dirty="0"/>
              <a:t> has the highest repeat intensity - 9.06 visits per patient, above North Central at 8.87.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Service-age concentration is directional rather than extreme - Laboratory and Malaria skew older, while Emergency skews toward ages 0-4.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2026 is partial-year through August 31 - use like-for-like month comparisons rather than full-year totals.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1DA2D-1EC1-E1B3-D4DA-F58C2049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1DE25F-D610-E3E2-1891-3C114C624649}"/>
              </a:ext>
            </a:extLst>
          </p:cNvPr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50"/>
                </a:solidFill>
              </a:defRPr>
            </a:pPr>
            <a:r>
              <a:t>Recommended planning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CF33C-0A68-9032-4FF3-135F427E8A9E}"/>
              </a:ext>
            </a:extLst>
          </p:cNvPr>
          <p:cNvSpPr txBox="1"/>
          <p:nvPr/>
        </p:nvSpPr>
        <p:spPr>
          <a:xfrm>
            <a:off x="475488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Translate the dashboard signals into operational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2D519-8982-E969-7394-0A3B81431269}"/>
              </a:ext>
            </a:extLst>
          </p:cNvPr>
          <p:cNvSpPr txBox="1"/>
          <p:nvPr/>
        </p:nvSpPr>
        <p:spPr>
          <a:xfrm>
            <a:off x="731520" y="1280160"/>
            <a:ext cx="10789920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Strengthen older-adult service capacity: </a:t>
            </a:r>
            <a:r>
              <a:rPr lang="en-US" dirty="0" err="1"/>
              <a:t>Prioritise</a:t>
            </a:r>
            <a:r>
              <a:rPr lang="en-US" dirty="0"/>
              <a:t> capacity planning for ages 45-64 and 65+, especially for Laboratory, Pharmacy, Malaria and Inpatient services.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Investigate repeat </a:t>
            </a:r>
            <a:r>
              <a:rPr lang="en-US" dirty="0" err="1"/>
              <a:t>utilisation</a:t>
            </a:r>
            <a:r>
              <a:rPr lang="en-US" dirty="0"/>
              <a:t> in </a:t>
            </a:r>
            <a:r>
              <a:rPr lang="en-US" dirty="0" err="1"/>
              <a:t>NorthWest</a:t>
            </a:r>
            <a:r>
              <a:rPr lang="en-US" dirty="0"/>
              <a:t>:</a:t>
            </a:r>
          </a:p>
          <a:p>
            <a:r>
              <a:rPr lang="en-US" dirty="0" err="1"/>
              <a:t>NorthWest</a:t>
            </a:r>
            <a:r>
              <a:rPr lang="en-US" dirty="0"/>
              <a:t> has the highest visits per patient and the strongest regional concentration for several services. Review facility-level drivers, continuity of care, appointment scheduling and chronic-care pathways.</a:t>
            </a:r>
          </a:p>
          <a:p>
            <a:endParaRPr lang="en-US" dirty="0"/>
          </a:p>
          <a:p>
            <a:r>
              <a:rPr lang="en-US" dirty="0"/>
              <a:t>3. Protect </a:t>
            </a:r>
            <a:r>
              <a:rPr lang="en-US" dirty="0" err="1"/>
              <a:t>paediatric</a:t>
            </a:r>
            <a:r>
              <a:rPr lang="en-US" dirty="0"/>
              <a:t> emergency readiness:</a:t>
            </a:r>
          </a:p>
          <a:p>
            <a:r>
              <a:rPr lang="en-US" dirty="0"/>
              <a:t>Emergency services show the strongest concentration among children aged 0-4. This supports targeted staffing, triage readiness and stock planning for </a:t>
            </a:r>
            <a:r>
              <a:rPr lang="en-US" dirty="0" err="1"/>
              <a:t>paediatric</a:t>
            </a:r>
            <a:r>
              <a:rPr lang="en-US" dirty="0"/>
              <a:t> demand.</a:t>
            </a:r>
          </a:p>
          <a:p>
            <a:endParaRPr lang="en-US" dirty="0"/>
          </a:p>
          <a:p>
            <a:r>
              <a:rPr lang="en-US" dirty="0"/>
              <a:t>4. Monitor 2026 performance:</a:t>
            </a:r>
          </a:p>
          <a:p>
            <a:r>
              <a:rPr lang="en-US" dirty="0"/>
              <a:t>Use January-August comparisons rather than comparing partial-year 2026 totals with full-year 2024 or 2025 results.</a:t>
            </a:r>
          </a:p>
          <a:p>
            <a:endParaRPr lang="en-US" dirty="0"/>
          </a:p>
          <a:p>
            <a:r>
              <a:rPr lang="en-US" dirty="0"/>
              <a:t>5. Use demographic drill-through in Power BI:</a:t>
            </a:r>
          </a:p>
          <a:p>
            <a:r>
              <a:rPr lang="en-US" dirty="0"/>
              <a:t>Allow users to move from region to sex, age group, service and facility so managers can identify the operational source of demand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76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50"/>
                </a:solidFill>
              </a:defRPr>
            </a:pPr>
            <a:r>
              <a:t>Power BI report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Three-page structure for internal defence and operational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Executive Overview - KPIs, demographic mix, regional demand and monthly trend.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Trend / Performance - monthly activity, year-</a:t>
            </a:r>
            <a:r>
              <a:rPr lang="en-US" dirty="0"/>
              <a:t>month </a:t>
            </a:r>
            <a:r>
              <a:rPr dirty="0"/>
              <a:t>comparison, wait time and completion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Detailed Analysis - service by age matrix, region-sex-age drilldown, and top concentration table.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Model - </a:t>
            </a:r>
            <a:r>
              <a:rPr dirty="0" err="1"/>
              <a:t>FactVisits</a:t>
            </a:r>
            <a:r>
              <a:rPr dirty="0"/>
              <a:t> plus </a:t>
            </a:r>
            <a:r>
              <a:rPr dirty="0" err="1"/>
              <a:t>DimPatient</a:t>
            </a:r>
            <a:r>
              <a:rPr dirty="0"/>
              <a:t>, </a:t>
            </a:r>
            <a:r>
              <a:rPr dirty="0" err="1"/>
              <a:t>DimFacility</a:t>
            </a:r>
            <a:r>
              <a:rPr dirty="0"/>
              <a:t>, </a:t>
            </a:r>
            <a:r>
              <a:rPr dirty="0" err="1"/>
              <a:t>DimService</a:t>
            </a:r>
            <a:r>
              <a:rPr dirty="0"/>
              <a:t> and a marked </a:t>
            </a:r>
            <a:r>
              <a:rPr dirty="0" err="1"/>
              <a:t>DimDate</a:t>
            </a:r>
            <a:r>
              <a:rPr dirty="0"/>
              <a:t> table.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dirty="0"/>
              <a:t>Important caveat - 2026 runs January-August only in the supplied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9D45C-5909-AA09-54F5-A4F4CDEA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F350E-6170-E209-9936-18319A76A169}"/>
              </a:ext>
            </a:extLst>
          </p:cNvPr>
          <p:cNvSpPr txBox="1"/>
          <p:nvPr/>
        </p:nvSpPr>
        <p:spPr>
          <a:xfrm>
            <a:off x="731520" y="1280160"/>
            <a:ext cx="10789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rPr lang="en-US" sz="4000" dirty="0"/>
              <a:t>THANK YOU FOR LISTENING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Nafisa Ismail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287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460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Nafisa Ismail</cp:lastModifiedBy>
  <cp:revision>2</cp:revision>
  <dcterms:created xsi:type="dcterms:W3CDTF">2013-01-27T09:14:16Z</dcterms:created>
  <dcterms:modified xsi:type="dcterms:W3CDTF">2026-09-15T00:08:50Z</dcterms:modified>
  <cp:category/>
</cp:coreProperties>
</file>